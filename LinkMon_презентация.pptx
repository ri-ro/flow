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LinkMon — открытая система активного мониторинга качества каналов с учётом QoS. Доклад: архитектура, методы измерений и сравнение с существующими решениями.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B5563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91440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011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LINKMON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04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Распределённая система мониторинга качества сетевых каналов с учётом классов обслуживания (QoS)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828800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5720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Активные измерения задержек, потерь, джиттера и пропускной способности · Сравнение с WiSLA, SmokePing, RMON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Научно-технический доклад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обычного мониторинга недостаточно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92424" cy="3291840"/>
          </a:xfrm>
          <a:prstGeom prst="roundRect">
            <a:avLst>
              <a:gd name="adj" fmla="val 2500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566928" cy="566928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8036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Многоклассовый трафик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611880"/>
            <a:ext cx="2843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VoIP, видео, транзакции и фон делят один канал и разграничиваются меткой DSCP (DiffServ).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98264" y="1828800"/>
            <a:ext cx="3392424" cy="3291840"/>
          </a:xfrm>
          <a:prstGeom prst="roundRect">
            <a:avLst>
              <a:gd name="adj" fmla="val 2500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18304" y="21488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18304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72584" y="288036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формулируется per-class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72584" y="3611880"/>
            <a:ext cx="2843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Задержка, джиттер, потери и доступность оговариваются отдельно для каждого класса и направления.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56448" y="1828800"/>
            <a:ext cx="3392424" cy="3291840"/>
          </a:xfrm>
          <a:prstGeom prst="roundRect">
            <a:avLst>
              <a:gd name="adj" fmla="val 2500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6488" y="2148840"/>
            <a:ext cx="566928" cy="5669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76488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30768" y="288036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Нужен контроль сохранности QoS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30768" y="3611880"/>
            <a:ext cx="2843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видеть, что приоритетный класс не перемаркирован и не «срезан» на транзитном узле.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39496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RMON измеряет загрузку интерфейса, SmokePing — только RTT. Ни один не проверяет качество по классам и направлениям.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LinkMon: активный мониторинг «агент — сервер»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</a:t>
            </a:r>
            <a:pPr indent="0" marL="0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Linux-хосте филиала циклически зондирует каждый канал; </a:t>
            </a:r>
            <a:pPr indent="0" marL="0">
              <a:buNone/>
            </a:pPr>
            <a:r>
              <a:rPr lang="en-US" sz="16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  <a:pPr indent="0" marL="0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ЦОД отражает пробы, собирает результаты и управляет измерениями.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422904" cy="1417320"/>
          </a:xfrm>
          <a:prstGeom prst="roundRect">
            <a:avLst>
              <a:gd name="adj" fmla="val 5806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72491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C2A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2633472"/>
            <a:ext cx="2645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Per-class × per-direction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035808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отдельно для каждого DSCP и отдельно «туда» и «обратно».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3024" y="2468880"/>
            <a:ext cx="3422904" cy="1417320"/>
          </a:xfrm>
          <a:prstGeom prst="roundRect">
            <a:avLst>
              <a:gd name="adj" fmla="val 5806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9056" y="272491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C2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31664" y="2633472"/>
            <a:ext cx="2645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Полный набор метрик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9056" y="3035808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RTT, односторонняя задержка, джиттер, потери, MOS — из одной серии проб.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25968" y="2468880"/>
            <a:ext cx="3422904" cy="1417320"/>
          </a:xfrm>
          <a:prstGeom prst="roundRect">
            <a:avLst>
              <a:gd name="adj" fmla="val 5806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82000" y="272491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C2A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74608" y="2633472"/>
            <a:ext cx="2645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Контроль перемаркировки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82000" y="3035808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заданного DSCP с фактически увиденным на пути.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3422904" cy="1417320"/>
          </a:xfrm>
          <a:prstGeom prst="roundRect">
            <a:avLst>
              <a:gd name="adj" fmla="val 5806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6112" y="441655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C2A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88720" y="4325112"/>
            <a:ext cx="2645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Нагрузочные тесты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" y="4727448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iperf-подобные измерения полосы по TCP/UDP с нужным классом.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83024" y="4160520"/>
            <a:ext cx="3422904" cy="1417320"/>
          </a:xfrm>
          <a:prstGeom prst="roundRect">
            <a:avLst>
              <a:gd name="adj" fmla="val 5806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39056" y="441655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C2A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931664" y="4325112"/>
            <a:ext cx="2645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Надёжность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639056" y="4727448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Дисковый буфер с подтверждением; агент мерит и без связи с сервером.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25968" y="4160520"/>
            <a:ext cx="3422904" cy="1417320"/>
          </a:xfrm>
          <a:prstGeom prst="roundRect">
            <a:avLst>
              <a:gd name="adj" fmla="val 5806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82000" y="441655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C2A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74608" y="4325112"/>
            <a:ext cx="2645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Открытость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382000" y="4727448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Чистый PostgreSQL, Grafana, Prometheus; mTLS и RLS для безопасности.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Схема «агент — сервер»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4206240" cy="3566160"/>
          </a:xfrm>
          <a:prstGeom prst="roundRect">
            <a:avLst>
              <a:gd name="adj" fmla="val 2308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ФИЛИАЛ · linkmon-agent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Сессия канала ×N (send / recv / flush)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3009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Сокет с SO_BINDTODEVICE + IP_TOS (DSCP)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8130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→ spool (диск, fsync)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3251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Uploader → ack, long-poll команд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8371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Съём загрузки интерфейса из ядра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42632" y="2103120"/>
            <a:ext cx="4206240" cy="3566160"/>
          </a:xfrm>
          <a:prstGeom prst="roundRect">
            <a:avLst>
              <a:gd name="adj" fmla="val 2308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616952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ЦОД · linkmon-server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662672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Рефлектор: N сокетов SO_REUSEPORT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662672" y="33009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Метки ядра T2/T3, ответ с исходным DSCP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662672" y="38130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Серверная сессия канала (srv_rx)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662672" y="43251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LISTEN/NOTIFY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662672" y="48371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API, метрики, React UI, Grafana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983480" y="2971800"/>
            <a:ext cx="2194560" cy="45720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92040" y="2606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UDP-проба, DSCP=X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83480" y="3931920"/>
            <a:ext cx="2194560" cy="457200"/>
          </a:xfrm>
          <a:prstGeom prst="leftArrow">
            <a:avLst/>
          </a:prstGeom>
          <a:solidFill>
            <a:srgbClr val="00C2A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92040" y="4434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в том же классе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5166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mTLS :8443 — регистрация, результаты, команды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9436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Единица наблюдения — канал: (под)интерфейс × рефлектор × класс DSCP, раздельно по направлениям.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 ИЗМЕРЕНИЙ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метки времени — восемь метрик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" y="2249424"/>
            <a:ext cx="10607040" cy="0"/>
          </a:xfrm>
          <a:prstGeom prst="line">
            <a:avLst/>
          </a:prstGeom>
          <a:noFill/>
          <a:ln w="25400">
            <a:solidFill>
              <a:srgbClr val="D8E0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566928" cy="566928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25877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отправил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4340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25877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рефлектор принял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0" y="19659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5877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рефлектор ответил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1201400" y="1965960"/>
            <a:ext cx="566928" cy="5669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20140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652760" y="25877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принял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3422904" cy="1234440"/>
          </a:xfrm>
          <a:prstGeom prst="roundRect">
            <a:avLst>
              <a:gd name="adj" fmla="val 6667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96112" y="3364992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3803904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(T4−T1)−(T3−T2)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" y="4096512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синхронизации часов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3024" y="3200400"/>
            <a:ext cx="3422904" cy="1234440"/>
          </a:xfrm>
          <a:prstGeom prst="roundRect">
            <a:avLst>
              <a:gd name="adj" fmla="val 6667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639056" y="3364992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Задержка туда / обратно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639056" y="3803904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T2−T1 / T4−T3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639056" y="4096512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синхронных часах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25968" y="3200400"/>
            <a:ext cx="3422904" cy="1234440"/>
          </a:xfrm>
          <a:prstGeom prst="roundRect">
            <a:avLst>
              <a:gd name="adj" fmla="val 6667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382000" y="3364992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Джиттер по направлениям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382000" y="3803904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RFC 3550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382000" y="4096512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синхронизации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690872"/>
            <a:ext cx="3422904" cy="1234440"/>
          </a:xfrm>
          <a:prstGeom prst="roundRect">
            <a:avLst>
              <a:gd name="adj" fmla="val 6667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96112" y="4855464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Потери туда / обратно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" y="5294376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через srv_rx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96112" y="5586984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синхронизации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83024" y="4690872"/>
            <a:ext cx="3422904" cy="1234440"/>
          </a:xfrm>
          <a:prstGeom prst="roundRect">
            <a:avLst>
              <a:gd name="adj" fmla="val 6667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4639056" y="4855464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Перемаркировка DSCP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4639056" y="5294376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IP_RECVTOS ≠ заданного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639056" y="5586984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стороны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25968" y="4690872"/>
            <a:ext cx="3422904" cy="1234440"/>
          </a:xfrm>
          <a:prstGeom prst="roundRect">
            <a:avLst>
              <a:gd name="adj" fmla="val 6667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8382000" y="4855464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382000" y="5294376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E-модель ITU-T G.107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382000" y="5586984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разборчивость речи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 ОТЛИЧИЕ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Контроль сохранности класса обслуживания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LinkMon сравнивает заданный DSCP с тем, что фактически увидели рефлектор и агент. Расхождение = трафик обслуживается не в своём классе.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3017520" cy="1554480"/>
          </a:xfrm>
          <a:prstGeom prst="roundRect">
            <a:avLst>
              <a:gd name="adj" fmla="val 4706"/>
            </a:avLst>
          </a:prstGeom>
          <a:solidFill>
            <a:srgbClr val="1E3B4D"/>
          </a:solidFill>
          <a:ln w="19050">
            <a:solidFill>
              <a:srgbClr val="00C2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46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 (46)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886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 агентом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0" y="3474720"/>
            <a:ext cx="1188720" cy="45720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5212080" y="2926080"/>
            <a:ext cx="3017520" cy="1554480"/>
          </a:xfrm>
          <a:prstGeom prst="roundRect">
            <a:avLst>
              <a:gd name="adj" fmla="val 4706"/>
            </a:avLst>
          </a:prstGeom>
          <a:solidFill>
            <a:srgbClr val="1E3B4D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0" y="3246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транзит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3886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узлы оператора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58200" y="3474720"/>
            <a:ext cx="1188720" cy="457200"/>
          </a:xfrm>
          <a:prstGeom prst="rightArrow">
            <a:avLst/>
          </a:prstGeom>
          <a:solidFill>
            <a:srgbClr val="E06D5F"/>
          </a:solidFill>
          <a:ln/>
        </p:spPr>
      </p:sp>
      <p:sp>
        <p:nvSpPr>
          <p:cNvPr id="13" name="Shape 11"/>
          <p:cNvSpPr/>
          <p:nvPr/>
        </p:nvSpPr>
        <p:spPr>
          <a:xfrm>
            <a:off x="9875520" y="2926080"/>
            <a:ext cx="1673352" cy="1554480"/>
          </a:xfrm>
          <a:prstGeom prst="roundRect">
            <a:avLst>
              <a:gd name="adj" fmla="val 4706"/>
            </a:avLst>
          </a:prstGeom>
          <a:solidFill>
            <a:srgbClr val="1E3B4D"/>
          </a:solidFill>
          <a:ln w="19050">
            <a:solidFill>
              <a:srgbClr val="E88A7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75520" y="3246120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(0)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0" y="388620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увиден на выходе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120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Перемаркировка обнаружена — приоритетный класс «срезан» на пути. SmokePing и RMON этого не видят.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ПРОПУСКНАЯ СПОСОБНОСТЬ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Нагрузочные тесты (iperf-подобные)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топологии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4846320" cy="548640"/>
          </a:xfrm>
          <a:prstGeom prst="roundRect">
            <a:avLst>
              <a:gd name="adj" fmla="val 13333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148840"/>
            <a:ext cx="274320" cy="27432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2011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↔ агент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4846320" cy="548640"/>
          </a:xfrm>
          <a:prstGeom prst="roundRect">
            <a:avLst>
              <a:gd name="adj" fmla="val 13333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807208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34440" y="26700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↔ сервер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328416"/>
            <a:ext cx="4846320" cy="548640"/>
          </a:xfrm>
          <a:prstGeom prst="roundRect">
            <a:avLst>
              <a:gd name="adj" fmla="val 13333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3465576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34440" y="33284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↔ сервер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114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— агент или сам сервер LinkMon. Встроенный сервер тестов включается на любом узле.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1554480"/>
            <a:ext cx="5605272" cy="4206240"/>
          </a:xfrm>
          <a:prstGeom prst="roundRect">
            <a:avLst>
              <a:gd name="adj" fmla="val 1957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2636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Параметры (как в iperf)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2286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или UDP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Длительность / потоки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641080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1–600 с · до 128 потоков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291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блока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641080" y="3291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умолчанию 1350 байт (MTU)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3794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полоса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641080" y="3794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 для TCP и UDP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4297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DSCP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641080" y="4297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полоса в нужном классе QoS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4800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641080" y="4800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/ download (reverse)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52303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скорость, объём; для UDP — потери и джиттер (RFC 1889).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Хранение, надёжность и безопасность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71516" cy="1783080"/>
          </a:xfrm>
          <a:prstGeom prst="roundRect">
            <a:avLst>
              <a:gd name="adj" fmla="val 4615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21408"/>
            <a:ext cx="502920" cy="50292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21408"/>
            <a:ext cx="40370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Чистый PostgreSQL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743200"/>
            <a:ext cx="46771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TimescaleDB: нет лицензионных ограничений. Представления — стабильный контракт для Grafana и UI.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7356" y="1828800"/>
            <a:ext cx="5271516" cy="1783080"/>
          </a:xfrm>
          <a:prstGeom prst="roundRect">
            <a:avLst>
              <a:gd name="adj" fmla="val 4615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9964" y="212140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69964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237476" y="2121408"/>
            <a:ext cx="40370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Гарантированная доставка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97396" y="2743200"/>
            <a:ext cx="46771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Spool на диске (tmp→fsync→rename), удаление батча только после Ack, дедупликация по (agent_id, seq).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271516" cy="1783080"/>
          </a:xfrm>
          <a:prstGeom prst="roundRect">
            <a:avLst>
              <a:gd name="adj" fmla="val 4615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4224528"/>
            <a:ext cx="502920" cy="50292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2688" y="4224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224528"/>
            <a:ext cx="40370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Разграничение доступа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846320"/>
            <a:ext cx="46771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big_admin / admin / viewer и области видимости через Row-Level Security PostgreSQL.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77356" y="3931920"/>
            <a:ext cx="5271516" cy="1783080"/>
          </a:xfrm>
          <a:prstGeom prst="roundRect">
            <a:avLst>
              <a:gd name="adj" fmla="val 4615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69964" y="42245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69964" y="4224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237476" y="4224528"/>
            <a:ext cx="40370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Безопасность канала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97396" y="4846320"/>
            <a:ext cx="46771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Взаимная аутентификация mTLS, саморегистрация по токену, локальный конфиг ограничивает цели и классы.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0B5563">
              <a:alpha val="3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Сравнение с существующими решениями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97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RMON · SmokePing · WiSLA · LinkMon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Функциональные возможности подходов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3796" y="1600200"/>
            <a:ext cx="4206240" cy="457200"/>
          </a:xfrm>
          <a:prstGeom prst="rect">
            <a:avLst/>
          </a:prstGeom>
          <a:solidFill>
            <a:srgbClr val="1329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3796" y="1600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60036" y="1600200"/>
            <a:ext cx="1554480" cy="457200"/>
          </a:xfrm>
          <a:prstGeom prst="rect">
            <a:avLst/>
          </a:prstGeom>
          <a:solidFill>
            <a:srgbClr val="1329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60036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14516" y="1600200"/>
            <a:ext cx="1828800" cy="457200"/>
          </a:xfrm>
          <a:prstGeom prst="rect">
            <a:avLst/>
          </a:prstGeom>
          <a:solidFill>
            <a:srgbClr val="1329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14516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SmokePing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43316" y="1600200"/>
            <a:ext cx="1554480" cy="457200"/>
          </a:xfrm>
          <a:prstGeom prst="rect">
            <a:avLst/>
          </a:prstGeom>
          <a:solidFill>
            <a:srgbClr val="1329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43316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WiSLA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797796" y="1600200"/>
            <a:ext cx="1737360" cy="457200"/>
          </a:xfrm>
          <a:prstGeom prst="rect">
            <a:avLst/>
          </a:prstGeom>
          <a:solidFill>
            <a:srgbClr val="0B556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797796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LinkMon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3796" y="2057400"/>
            <a:ext cx="4206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" y="20574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измерения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60036" y="205740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60036" y="2057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пассив.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14516" y="2057400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14516" y="2057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43316" y="205740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43316" y="2057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797796" y="2057400"/>
            <a:ext cx="1737360" cy="384048"/>
          </a:xfrm>
          <a:prstGeom prst="rect">
            <a:avLst/>
          </a:prstGeom>
          <a:solidFill>
            <a:srgbClr val="E6F7F3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797796" y="20574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3796" y="2441448"/>
            <a:ext cx="4206240" cy="384048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3796" y="24414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Сквозное качество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60036" y="2441448"/>
            <a:ext cx="1554480" cy="384048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60036" y="24414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0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14516" y="2441448"/>
            <a:ext cx="1828800" cy="384048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14516" y="24414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C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243316" y="2441448"/>
            <a:ext cx="1554480" cy="384048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43316" y="24414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C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797796" y="2441448"/>
            <a:ext cx="1737360" cy="384048"/>
          </a:xfrm>
          <a:prstGeom prst="rect">
            <a:avLst/>
          </a:prstGeom>
          <a:solidFill>
            <a:srgbClr val="E6F7F3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97796" y="24414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53796" y="2825496"/>
            <a:ext cx="4206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3796" y="2825496"/>
            <a:ext cx="42062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Раздельно по направлениям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860036" y="2825496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860036" y="282549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0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14516" y="2825496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14516" y="28254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0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243316" y="2825496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43316" y="282549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9797796" y="2825496"/>
            <a:ext cx="1737360" cy="384048"/>
          </a:xfrm>
          <a:prstGeom prst="rect">
            <a:avLst/>
          </a:prstGeom>
          <a:solidFill>
            <a:srgbClr val="E6F7F3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797796" y="28254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53796" y="3209544"/>
            <a:ext cx="4206240" cy="384048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53796" y="32095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Односторонняя задержка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4860036" y="3209544"/>
            <a:ext cx="1554480" cy="384048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860036" y="32095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0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414516" y="3209544"/>
            <a:ext cx="1828800" cy="384048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414516" y="32095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0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8243316" y="3209544"/>
            <a:ext cx="1554480" cy="384048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243316" y="32095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C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9797796" y="3209544"/>
            <a:ext cx="1737360" cy="384048"/>
          </a:xfrm>
          <a:prstGeom prst="rect">
            <a:avLst/>
          </a:prstGeom>
          <a:solidFill>
            <a:srgbClr val="E6F7F3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797796" y="32095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653796" y="3593592"/>
            <a:ext cx="4206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53796" y="3593592"/>
            <a:ext cx="42062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классов DSCP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4860036" y="3593592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860036" y="35935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0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6414516" y="3593592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414516" y="3593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0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8243316" y="3593592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243316" y="35935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C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9797796" y="3593592"/>
            <a:ext cx="1737360" cy="384048"/>
          </a:xfrm>
          <a:prstGeom prst="rect">
            <a:avLst/>
          </a:prstGeom>
          <a:solidFill>
            <a:srgbClr val="E6F7F3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797796" y="35935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653796" y="3977640"/>
            <a:ext cx="4206240" cy="384048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53796" y="39776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перемаркировки DSCP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4860036" y="3977640"/>
            <a:ext cx="1554480" cy="384048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860036" y="3977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0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6414516" y="3977640"/>
            <a:ext cx="1828800" cy="384048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414516" y="3977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0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70" name="Shape 68"/>
          <p:cNvSpPr/>
          <p:nvPr/>
        </p:nvSpPr>
        <p:spPr>
          <a:xfrm>
            <a:off x="8243316" y="3977640"/>
            <a:ext cx="1554480" cy="384048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8243316" y="3977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9797796" y="3977640"/>
            <a:ext cx="1737360" cy="384048"/>
          </a:xfrm>
          <a:prstGeom prst="rect">
            <a:avLst/>
          </a:prstGeom>
          <a:solidFill>
            <a:srgbClr val="E6F7F3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797796" y="39776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74" name="Shape 72"/>
          <p:cNvSpPr/>
          <p:nvPr/>
        </p:nvSpPr>
        <p:spPr>
          <a:xfrm>
            <a:off x="653796" y="4361688"/>
            <a:ext cx="4206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53796" y="43616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Джиттер / потери по направл.</a:t>
            </a:r>
            <a:endParaRPr lang="en-US" sz="1250" dirty="0"/>
          </a:p>
        </p:txBody>
      </p:sp>
      <p:sp>
        <p:nvSpPr>
          <p:cNvPr id="76" name="Shape 74"/>
          <p:cNvSpPr/>
          <p:nvPr/>
        </p:nvSpPr>
        <p:spPr>
          <a:xfrm>
            <a:off x="4860036" y="4361688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4860036" y="43616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0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78" name="Shape 76"/>
          <p:cNvSpPr/>
          <p:nvPr/>
        </p:nvSpPr>
        <p:spPr>
          <a:xfrm>
            <a:off x="6414516" y="4361688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6414516" y="43616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</a:t>
            </a:r>
            <a:endParaRPr lang="en-US" sz="1250" dirty="0"/>
          </a:p>
        </p:txBody>
      </p:sp>
      <p:sp>
        <p:nvSpPr>
          <p:cNvPr id="80" name="Shape 78"/>
          <p:cNvSpPr/>
          <p:nvPr/>
        </p:nvSpPr>
        <p:spPr>
          <a:xfrm>
            <a:off x="8243316" y="4361688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8243316" y="43616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C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82" name="Shape 80"/>
          <p:cNvSpPr/>
          <p:nvPr/>
        </p:nvSpPr>
        <p:spPr>
          <a:xfrm>
            <a:off x="9797796" y="4361688"/>
            <a:ext cx="1737360" cy="384048"/>
          </a:xfrm>
          <a:prstGeom prst="rect">
            <a:avLst/>
          </a:prstGeom>
          <a:solidFill>
            <a:srgbClr val="E6F7F3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9797796" y="43616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84" name="Shape 82"/>
          <p:cNvSpPr/>
          <p:nvPr/>
        </p:nvSpPr>
        <p:spPr>
          <a:xfrm>
            <a:off x="653796" y="4745736"/>
            <a:ext cx="4206240" cy="384048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653796" y="47457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MOS</a:t>
            </a:r>
            <a:endParaRPr lang="en-US" sz="1250" dirty="0"/>
          </a:p>
        </p:txBody>
      </p:sp>
      <p:sp>
        <p:nvSpPr>
          <p:cNvPr id="86" name="Shape 84"/>
          <p:cNvSpPr/>
          <p:nvPr/>
        </p:nvSpPr>
        <p:spPr>
          <a:xfrm>
            <a:off x="4860036" y="4745736"/>
            <a:ext cx="1554480" cy="384048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4860036" y="47457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0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88" name="Shape 86"/>
          <p:cNvSpPr/>
          <p:nvPr/>
        </p:nvSpPr>
        <p:spPr>
          <a:xfrm>
            <a:off x="6414516" y="4745736"/>
            <a:ext cx="1828800" cy="384048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6414516" y="47457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0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90" name="Shape 88"/>
          <p:cNvSpPr/>
          <p:nvPr/>
        </p:nvSpPr>
        <p:spPr>
          <a:xfrm>
            <a:off x="8243316" y="4745736"/>
            <a:ext cx="1554480" cy="384048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8243316" y="47457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C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92" name="Shape 90"/>
          <p:cNvSpPr/>
          <p:nvPr/>
        </p:nvSpPr>
        <p:spPr>
          <a:xfrm>
            <a:off x="9797796" y="4745736"/>
            <a:ext cx="1737360" cy="384048"/>
          </a:xfrm>
          <a:prstGeom prst="rect">
            <a:avLst/>
          </a:prstGeom>
          <a:solidFill>
            <a:srgbClr val="E6F7F3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9797796" y="474573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94" name="Shape 92"/>
          <p:cNvSpPr/>
          <p:nvPr/>
        </p:nvSpPr>
        <p:spPr>
          <a:xfrm>
            <a:off x="653796" y="5129784"/>
            <a:ext cx="4206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653796" y="51297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Нагрузочный тест полосы</a:t>
            </a:r>
            <a:endParaRPr lang="en-US" sz="1250" dirty="0"/>
          </a:p>
        </p:txBody>
      </p:sp>
      <p:sp>
        <p:nvSpPr>
          <p:cNvPr id="96" name="Shape 94"/>
          <p:cNvSpPr/>
          <p:nvPr/>
        </p:nvSpPr>
        <p:spPr>
          <a:xfrm>
            <a:off x="4860036" y="5129784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4860036" y="51297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0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98" name="Shape 96"/>
          <p:cNvSpPr/>
          <p:nvPr/>
        </p:nvSpPr>
        <p:spPr>
          <a:xfrm>
            <a:off x="6414516" y="5129784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6414516" y="51297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0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100" name="Shape 98"/>
          <p:cNvSpPr/>
          <p:nvPr/>
        </p:nvSpPr>
        <p:spPr>
          <a:xfrm>
            <a:off x="8243316" y="5129784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8243316" y="51297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</a:t>
            </a:r>
            <a:endParaRPr lang="en-US" sz="1250" dirty="0"/>
          </a:p>
        </p:txBody>
      </p:sp>
      <p:sp>
        <p:nvSpPr>
          <p:cNvPr id="102" name="Shape 100"/>
          <p:cNvSpPr/>
          <p:nvPr/>
        </p:nvSpPr>
        <p:spPr>
          <a:xfrm>
            <a:off x="9797796" y="5129784"/>
            <a:ext cx="1737360" cy="384048"/>
          </a:xfrm>
          <a:prstGeom prst="rect">
            <a:avLst/>
          </a:prstGeom>
          <a:solidFill>
            <a:srgbClr val="E6F7F3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9797796" y="512978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104" name="Shape 102"/>
          <p:cNvSpPr/>
          <p:nvPr/>
        </p:nvSpPr>
        <p:spPr>
          <a:xfrm>
            <a:off x="653796" y="5513832"/>
            <a:ext cx="4206240" cy="384048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653796" y="55138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код</a:t>
            </a:r>
            <a:endParaRPr lang="en-US" sz="1250" dirty="0"/>
          </a:p>
        </p:txBody>
      </p:sp>
      <p:sp>
        <p:nvSpPr>
          <p:cNvPr id="106" name="Shape 104"/>
          <p:cNvSpPr/>
          <p:nvPr/>
        </p:nvSpPr>
        <p:spPr>
          <a:xfrm>
            <a:off x="4860036" y="5513832"/>
            <a:ext cx="1554480" cy="384048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4860036" y="55138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C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108" name="Shape 106"/>
          <p:cNvSpPr/>
          <p:nvPr/>
        </p:nvSpPr>
        <p:spPr>
          <a:xfrm>
            <a:off x="6414516" y="5513832"/>
            <a:ext cx="1828800" cy="384048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6414516" y="55138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C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110" name="Shape 108"/>
          <p:cNvSpPr/>
          <p:nvPr/>
        </p:nvSpPr>
        <p:spPr>
          <a:xfrm>
            <a:off x="8243316" y="5513832"/>
            <a:ext cx="1554480" cy="384048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8243316" y="55138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0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112" name="Shape 110"/>
          <p:cNvSpPr/>
          <p:nvPr/>
        </p:nvSpPr>
        <p:spPr>
          <a:xfrm>
            <a:off x="9797796" y="5513832"/>
            <a:ext cx="1737360" cy="384048"/>
          </a:xfrm>
          <a:prstGeom prst="rect">
            <a:avLst/>
          </a:prstGeom>
          <a:solidFill>
            <a:srgbClr val="E6F7F3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9797796" y="55138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114" name="Shape 112"/>
          <p:cNvSpPr/>
          <p:nvPr/>
        </p:nvSpPr>
        <p:spPr>
          <a:xfrm>
            <a:off x="653796" y="5897880"/>
            <a:ext cx="4206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653796" y="58978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(Grafana/SQL)</a:t>
            </a:r>
            <a:endParaRPr lang="en-US" sz="1250" dirty="0"/>
          </a:p>
        </p:txBody>
      </p:sp>
      <p:sp>
        <p:nvSpPr>
          <p:cNvPr id="116" name="Shape 114"/>
          <p:cNvSpPr/>
          <p:nvPr/>
        </p:nvSpPr>
        <p:spPr>
          <a:xfrm>
            <a:off x="4860036" y="589788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4860036" y="58978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</a:t>
            </a:r>
            <a:endParaRPr lang="en-US" sz="1250" dirty="0"/>
          </a:p>
        </p:txBody>
      </p:sp>
      <p:sp>
        <p:nvSpPr>
          <p:cNvPr id="118" name="Shape 116"/>
          <p:cNvSpPr/>
          <p:nvPr/>
        </p:nvSpPr>
        <p:spPr>
          <a:xfrm>
            <a:off x="6414516" y="5897880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6414516" y="5897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</a:t>
            </a:r>
            <a:endParaRPr lang="en-US" sz="1250" dirty="0"/>
          </a:p>
        </p:txBody>
      </p:sp>
      <p:sp>
        <p:nvSpPr>
          <p:cNvPr id="120" name="Shape 118"/>
          <p:cNvSpPr/>
          <p:nvPr/>
        </p:nvSpPr>
        <p:spPr>
          <a:xfrm>
            <a:off x="8243316" y="589788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8243316" y="58978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огр.</a:t>
            </a:r>
            <a:endParaRPr lang="en-US" sz="1250" dirty="0"/>
          </a:p>
        </p:txBody>
      </p:sp>
      <p:sp>
        <p:nvSpPr>
          <p:cNvPr id="122" name="Shape 120"/>
          <p:cNvSpPr/>
          <p:nvPr/>
        </p:nvSpPr>
        <p:spPr>
          <a:xfrm>
            <a:off x="9797796" y="5897880"/>
            <a:ext cx="1737360" cy="384048"/>
          </a:xfrm>
          <a:prstGeom prst="rect">
            <a:avLst/>
          </a:prstGeom>
          <a:solidFill>
            <a:srgbClr val="E6F7F3"/>
          </a:solidFill>
          <a:ln w="6350">
            <a:solidFill>
              <a:srgbClr val="D8E0E4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9797796" y="58978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124" name="Text 122"/>
          <p:cNvSpPr txBox="1"/>
          <p:nvPr/>
        </p:nvSpPr>
        <p:spPr>
          <a:xfrm>
            <a:off x="653796" y="639165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есть · ± частично · — нет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СРАВНЕНИЯ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Преимущества LinkMon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2904" cy="1737360"/>
          </a:xfrm>
          <a:prstGeom prst="roundRect">
            <a:avLst>
              <a:gd name="adj" fmla="val 4737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148840"/>
            <a:ext cx="2325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Per-class × per-direction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743200"/>
            <a:ext cx="2874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— по каждому DSCP и направлению, точно под формулировки SLA.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3024" y="1874520"/>
            <a:ext cx="3422904" cy="1737360"/>
          </a:xfrm>
          <a:prstGeom prst="roundRect">
            <a:avLst>
              <a:gd name="adj" fmla="val 4737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57344" y="214884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57344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251704" y="2148840"/>
            <a:ext cx="2325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Контроль QoS на пути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75632" y="2743200"/>
            <a:ext cx="2874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Обнаружение перемаркировки DSCP — нет у SmokePing и RMON.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25968" y="1874520"/>
            <a:ext cx="3422904" cy="1737360"/>
          </a:xfrm>
          <a:prstGeom prst="roundRect">
            <a:avLst>
              <a:gd name="adj" fmla="val 4737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00288" y="214884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0028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994648" y="2148840"/>
            <a:ext cx="2325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Всё из одной пробы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418576" y="2743200"/>
            <a:ext cx="2874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RTT, one-way, джиттер, потери и MOS; часть — без синхронизации часов.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3422904" cy="1737360"/>
          </a:xfrm>
          <a:prstGeom prst="roundRect">
            <a:avLst>
              <a:gd name="adj" fmla="val 4737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20624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206240"/>
            <a:ext cx="2325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Полоса в нужном классе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932688" y="4800600"/>
            <a:ext cx="2874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iperf-подобный тест TCP/UDP с назначаемым DSCP и лимитом.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83024" y="3931920"/>
            <a:ext cx="3422904" cy="1737360"/>
          </a:xfrm>
          <a:prstGeom prst="roundRect">
            <a:avLst>
              <a:gd name="adj" fmla="val 4737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57344" y="420624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57344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251704" y="4206240"/>
            <a:ext cx="2325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Автономность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4675632" y="4800600"/>
            <a:ext cx="2874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Буфер с подтверждением — данные не теряются при обрыве связи.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25968" y="3931920"/>
            <a:ext cx="3422904" cy="1737360"/>
          </a:xfrm>
          <a:prstGeom prst="roundRect">
            <a:avLst>
              <a:gd name="adj" fmla="val 4737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CA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00288" y="420624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00288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994648" y="4206240"/>
            <a:ext cx="2325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Открытость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8418576" y="4800600"/>
            <a:ext cx="2874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Prometheus, Grafana; воспроизводимая методика.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АПРОБАЦИЯ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Ядро измерений проверено тестами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452878" cy="2743200"/>
          </a:xfrm>
          <a:prstGeom prst="roundRect">
            <a:avLst>
              <a:gd name="adj" fmla="val 3728"/>
            </a:avLst>
          </a:prstGeom>
          <a:solidFill>
            <a:srgbClr val="1E3B4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697480"/>
            <a:ext cx="24528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11880"/>
            <a:ext cx="2452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Мбит/с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023360"/>
            <a:ext cx="24528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 TCP выдержан точно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58718" y="2194560"/>
            <a:ext cx="2452878" cy="2743200"/>
          </a:xfrm>
          <a:prstGeom prst="roundRect">
            <a:avLst>
              <a:gd name="adj" fmla="val 3728"/>
            </a:avLst>
          </a:prstGeom>
          <a:solidFill>
            <a:srgbClr val="1E3B4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58718" y="2697480"/>
            <a:ext cx="24528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3458718" y="3611880"/>
            <a:ext cx="2452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Мбит/с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58718" y="4023360"/>
            <a:ext cx="24528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 UDP выдержан точно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7356" y="2194560"/>
            <a:ext cx="2452878" cy="2743200"/>
          </a:xfrm>
          <a:prstGeom prst="roundRect">
            <a:avLst>
              <a:gd name="adj" fmla="val 3728"/>
            </a:avLst>
          </a:prstGeom>
          <a:solidFill>
            <a:srgbClr val="1E3B4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77356" y="2697480"/>
            <a:ext cx="24528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0 %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277356" y="4023360"/>
            <a:ext cx="24528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потерь на чистом канале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95994" y="2194560"/>
            <a:ext cx="2452878" cy="2743200"/>
          </a:xfrm>
          <a:prstGeom prst="roundRect">
            <a:avLst>
              <a:gd name="adj" fmla="val 3728"/>
            </a:avLst>
          </a:prstGeom>
          <a:solidFill>
            <a:srgbClr val="1E3B4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95994" y="2697480"/>
            <a:ext cx="24528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9095994" y="3611880"/>
            <a:ext cx="2452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метки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095994" y="4023360"/>
            <a:ext cx="24528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времени → 8 метрик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39496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D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Интеграционные тесты на петлевом интерфейсе: TCP up/down с потоками, UDP с потерями и джиттером, ограничитель полосы. TWAMP-Light — совместимость с аппаратными ответчиками.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5669280" cy="5669280"/>
          </a:xfrm>
          <a:prstGeom prst="ellipse">
            <a:avLst/>
          </a:prstGeom>
          <a:solidFill>
            <a:srgbClr val="0B556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914400"/>
            <a:ext cx="3108960" cy="3108960"/>
          </a:xfrm>
          <a:prstGeom prst="ellipse">
            <a:avLst/>
          </a:prstGeom>
          <a:solidFill>
            <a:srgbClr val="00C2A8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Заключение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LinkMon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открытая система активного мониторинга качества каналов, измеряющая задержку, джиттер, потери и MOS раздельно по классам DSCP и направлениям, обнаруживающая перемаркировку QoS и проводящая нагрузочные тесты полосы в нужном классе.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4048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D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Превосходит SmokePing и RMON в учёте классов и направлений; в сравнении с WiSLA даёт открытость, воспроизводимость методики и лёгкую интеграцию при сопоставимой функциональности.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2120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Развитие: IPv6 · аппаратные метки TX (SO_TIMESTAMPING) · расширение сценариев нагрузки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943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LinkMon</dc:title>
  <dc:subject>PptxGenJS Presentation</dc:subject>
  <dc:creator>LinkMon</dc:creator>
  <cp:lastModifiedBy>LinkMon</cp:lastModifiedBy>
  <cp:revision>1</cp:revision>
  <dcterms:created xsi:type="dcterms:W3CDTF">2026-09-27T19:10:44Z</dcterms:created>
  <dcterms:modified xsi:type="dcterms:W3CDTF">2026-09-27T19:10:44Z</dcterms:modified>
</cp:coreProperties>
</file>